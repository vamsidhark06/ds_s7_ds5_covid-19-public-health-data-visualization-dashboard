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4" r:id="rId7"/>
    <p:sldId id="902" r:id="rId8"/>
    <p:sldId id="258" r:id="rId9"/>
    <p:sldId id="259" r:id="rId10"/>
    <p:sldId id="905" r:id="rId11"/>
    <p:sldId id="260" r:id="rId12"/>
    <p:sldId id="9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Sept 2026-8:10 am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algn="l"/>
                      <a:r>
                        <a:rPr lang="en-IN" sz="1400" b="0" dirty="0">
                          <a:latin typeface="Times New Roman" panose="02020603050405020304"/>
                        </a:rPr>
                        <a:t>• D Sri Ram  (2420030192)</a:t>
                      </a:r>
                    </a:p>
                    <a:p>
                      <a:pPr algn="l"/>
                      <a:r>
                        <a:rPr lang="en-IN" sz="1400" b="0" dirty="0">
                          <a:latin typeface="Times New Roman" panose="02020603050405020304"/>
                        </a:rPr>
                        <a:t>• K Vamsidhar  (2420030341)</a:t>
                      </a:r>
                    </a:p>
                    <a:p>
                      <a:pPr algn="l"/>
                      <a:r>
                        <a:rPr lang="en-IN" sz="1400" b="0" dirty="0">
                          <a:latin typeface="Times New Roman" panose="02020603050405020304"/>
                        </a:rPr>
                        <a:t>• G Suvin Sai  (2420030115)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967666" y="4774125"/>
          <a:ext cx="6074178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3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ts val="810"/>
                        <a:buFontTx/>
                        <a:buNone/>
                        <a:defRPr/>
                      </a:pPr>
                      <a:r>
                        <a:rPr lang="en-IN" sz="14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Mrs. B.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41" y="891692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Poppins" pitchFamily="2" charset="77"/>
              </a:rPr>
              <a:t>COVID-19 / Public Health Data Visualization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</a:t>
            </a: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7969" y="1128563"/>
            <a:ext cx="98009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Background &amp; Public Health Context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Unprecedented Data Volume:</a:t>
            </a:r>
            <a:r>
              <a:rPr lang="en-IN" dirty="0"/>
              <a:t> COVID-19 resulted in massive, high-velocity epidemiological data generated globally across multiple public health jurisdictions.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Crucial Need for Transparency:</a:t>
            </a:r>
            <a:r>
              <a:rPr lang="en-IN" dirty="0"/>
              <a:t> Public health authorities, researchers, and citizens urgently need clear, intuitive tracking of infection spread, recovery velocity, and mortality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Interconnected Indicators:</a:t>
            </a:r>
            <a:r>
              <a:rPr lang="en-IN" dirty="0"/>
              <a:t> Understanding pandemic severity requires simultaneously examining testing volumes, confirmed cases, active infection ratios, and vaccination coverage.</a:t>
            </a:r>
          </a:p>
          <a:p>
            <a:pPr lvl="0"/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Key Challenges in Existing Approaches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Inconsistencies &amp; Quality Noise:</a:t>
            </a:r>
            <a:r>
              <a:rPr lang="en-IN" dirty="0"/>
              <a:t> Public datasets suffer from missing values, reporting backlogs, retroactive updates, and disparate regional data schemas.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Fragmented &amp; Siloed Metrics:</a:t>
            </a:r>
            <a:r>
              <a:rPr lang="en-IN" dirty="0"/>
              <a:t> Vaccination metrics, testing capacity, and mortality figures are often reported in isolation without multi-attribute correlation.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Static Reports &amp; High Cognitive Load:</a:t>
            </a:r>
            <a:r>
              <a:rPr lang="en-IN" dirty="0"/>
              <a:t> Traditional static tables and non-interactive graphs lack dynamic temporal/regional filters, hindering in-depth exploratory discovery.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7156F4-02DA-6ECA-9F9A-6F68193AC841}"/>
              </a:ext>
            </a:extLst>
          </p:cNvPr>
          <p:cNvSpPr txBox="1"/>
          <p:nvPr/>
        </p:nvSpPr>
        <p:spPr>
          <a:xfrm>
            <a:off x="745724" y="1340529"/>
            <a:ext cx="8396056" cy="568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b="1" dirty="0">
              <a:solidFill>
                <a:srgbClr val="0F2537"/>
              </a:solidFill>
              <a:latin typeface="Times New Roman" panose="02020603050405020304"/>
            </a:endParaRPr>
          </a:p>
          <a:p>
            <a:pPr>
              <a:spcBef>
                <a:spcPts val="300"/>
              </a:spcBef>
            </a:pPr>
            <a:r>
              <a:rPr lang="en-US" b="1" dirty="0">
                <a:solidFill>
                  <a:srgbClr val="1E293B"/>
                </a:solidFill>
                <a:latin typeface="Times New Roman" panose="02020603050405020304"/>
              </a:rPr>
              <a:t>Primary objective:</a:t>
            </a:r>
          </a:p>
          <a:p>
            <a:pPr>
              <a:spcBef>
                <a:spcPts val="300"/>
              </a:spcBef>
            </a:pPr>
            <a:r>
              <a:rPr lang="en-US" b="0" dirty="0">
                <a:solidFill>
                  <a:srgbClr val="1E293B"/>
                </a:solidFill>
                <a:latin typeface="Times New Roman" panose="02020603050405020304"/>
              </a:rPr>
              <a:t>To build an end-to-end data science analytical framework and interactive web dashboard that transforms complex, multi-source COVID-19 public health datasets into actionable visual insights through robust preprocessing, exploratory analysis, and spatiotemporal progression modeling</a:t>
            </a:r>
            <a:endParaRPr lang="en-US" dirty="0">
              <a:solidFill>
                <a:srgbClr val="1E293B"/>
              </a:solidFill>
              <a:latin typeface="Times New Roman" panose="02020603050405020304"/>
            </a:endParaRPr>
          </a:p>
          <a:p>
            <a:pPr>
              <a:spcBef>
                <a:spcPts val="300"/>
              </a:spcBef>
            </a:pPr>
            <a:r>
              <a:rPr lang="en-IN" b="1" dirty="0">
                <a:solidFill>
                  <a:srgbClr val="1F4E79"/>
                </a:solidFill>
                <a:latin typeface="Times New Roman" panose="02020603050405020304"/>
              </a:rPr>
              <a:t>1. Data Preprocessing &amp; Cleaning Pipeline</a:t>
            </a:r>
          </a:p>
          <a:p>
            <a:pPr>
              <a:spcBef>
                <a:spcPts val="3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Handle missing values, duplicate entries, and inconsistent regional records.</a:t>
            </a:r>
          </a:p>
          <a:p>
            <a:pPr>
              <a:spcBef>
                <a:spcPts val="3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Standardize date formats and harmonize heterogeneous public health data schemas.</a:t>
            </a:r>
          </a:p>
          <a:p>
            <a:pPr>
              <a:spcBef>
                <a:spcPts val="3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Implement 7-day rolling window smoothing to eliminate artificial weekend reporting dips.</a:t>
            </a:r>
          </a:p>
          <a:p>
            <a:pPr>
              <a:spcBef>
                <a:spcPts val="300"/>
              </a:spcBef>
            </a:pPr>
            <a:r>
              <a:rPr lang="en-IN" b="1" dirty="0">
                <a:solidFill>
                  <a:srgbClr val="1F4E79"/>
                </a:solidFill>
                <a:latin typeface="Times New Roman" panose="02020603050405020304"/>
              </a:rPr>
              <a:t>2. Exploratory Data Analysis &amp; Statistical Profiling</a:t>
            </a:r>
          </a:p>
          <a:p>
            <a:pPr>
              <a:spcBef>
                <a:spcPts val="3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Compute epidemiological metrics: Case Fatality Rate (CFR), Recovery Rate, and Positivity Ratio.</a:t>
            </a:r>
          </a:p>
          <a:p>
            <a:pPr>
              <a:spcBef>
                <a:spcPts val="3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</a:t>
            </a:r>
            <a:r>
              <a:rPr lang="en-IN" dirty="0" err="1">
                <a:solidFill>
                  <a:srgbClr val="1E293B"/>
                </a:solidFill>
                <a:latin typeface="Times New Roman" panose="02020603050405020304"/>
              </a:rPr>
              <a:t>Analyze</a:t>
            </a: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 data distributions and identify statistical variances across waves.</a:t>
            </a:r>
          </a:p>
          <a:p>
            <a:pPr>
              <a:spcBef>
                <a:spcPts val="3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Examine multi-indicator correlations between testing rates, cases, and vaccination coverage.</a:t>
            </a:r>
          </a:p>
          <a:p>
            <a:pPr>
              <a:spcBef>
                <a:spcPts val="300"/>
              </a:spcBef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E3DC1-E365-E620-5836-1022E15A4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91" y="435006"/>
            <a:ext cx="10634709" cy="5741957"/>
          </a:xfrm>
        </p:spPr>
        <p:txBody>
          <a:bodyPr/>
          <a:lstStyle/>
          <a:p>
            <a:pPr marL="0" indent="0" algn="ctr">
              <a:buNone/>
            </a:pPr>
            <a:endParaRPr lang="en-IN" sz="2400" b="1" dirty="0">
              <a:solidFill>
                <a:srgbClr val="1F4E79"/>
              </a:solidFill>
              <a:latin typeface="Times New Roman" panose="02020603050405020304"/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rgbClr val="1F4E79"/>
                </a:solidFill>
                <a:latin typeface="Times New Roman" panose="02020603050405020304"/>
              </a:rPr>
              <a:t>3.</a:t>
            </a:r>
            <a:r>
              <a:rPr lang="en-IN" sz="1800" b="1" dirty="0">
                <a:solidFill>
                  <a:srgbClr val="1F4E79"/>
                </a:solidFill>
                <a:latin typeface="Times New Roman" panose="02020603050405020304"/>
              </a:rPr>
              <a:t> Spatiotemporal &amp; Progression Analytics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Construct longitudinal time-series models to evaluate infection surges across pandemic waves.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Develop geographical choropleth maps for cross-country and regional spread comparisons.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</a:t>
            </a:r>
            <a:r>
              <a:rPr lang="en-IN" sz="1800" dirty="0" err="1">
                <a:solidFill>
                  <a:srgbClr val="1E293B"/>
                </a:solidFill>
                <a:latin typeface="Times New Roman" panose="02020603050405020304"/>
              </a:rPr>
              <a:t>Analyze</a:t>
            </a: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 regional vaccination rollout velocity and corresponding reduction in mortality.</a:t>
            </a:r>
          </a:p>
          <a:p>
            <a:r>
              <a:rPr lang="en-IN" sz="1800" b="1" dirty="0">
                <a:solidFill>
                  <a:srgbClr val="1F4E79"/>
                </a:solidFill>
                <a:latin typeface="Times New Roman" panose="02020603050405020304"/>
              </a:rPr>
              <a:t>4. Interactive Dashboard Architecture &amp; Delivery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Build a reactive, web-based UI with interactive filters (region, custom date range, waves).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Integrate multi-tiered visual widgets: trendlines, regional bar charts, and KPI cards.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Provide accessible, data-driven visual interpretation without replacing medical guidance.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6DDB1-7A7C-1EF5-72DD-6AF410CDF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3720743467"/>
              </p:ext>
            </p:extLst>
          </p:nvPr>
        </p:nvGraphicFramePr>
        <p:xfrm>
          <a:off x="274646" y="622550"/>
          <a:ext cx="11734473" cy="6977553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1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3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2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2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99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Dong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An Interactive Web-Based Dashboard to Track COVID-19 in Real Time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/>
                        <a:t>Collected COVID-19 data from multiple sources</a:t>
                      </a:r>
                      <a:r>
                        <a:rPr lang="en-IN" sz="1400" dirty="0"/>
                        <a:t>, including official health organizations.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/>
                        <a:t>Integrated and standardized the data</a:t>
                      </a:r>
                      <a:r>
                        <a:rPr lang="en-IN" sz="1400" dirty="0"/>
                        <a:t> to track confirmed cases and deaths across locations.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Interactive dashboards can make large-scale COVID-19 data easier to understand.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Combining data from multiple sources provides a more accessible view of pandemic progression.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/>
                        <a:t>Depended on the availability and accuracy of data from different sources.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76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Ivanković, D., </a:t>
                      </a:r>
                      <a:r>
                        <a:rPr lang="en-IN" sz="1400" b="0" dirty="0" err="1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Barbazza</a:t>
                      </a:r>
                      <a:r>
                        <a:rPr lang="en-IN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, E., et al. [2]
(JMIR Public Health &amp; Surveillance, 2021)</a:t>
                      </a:r>
                      <a:endParaRPr lang="en-IN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Features of Public Health Dashboards for COVID-19: A Systematic Review</a:t>
                      </a:r>
                      <a:endParaRPr lang="en-US" sz="20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Systematic evaluation of 158 global COVID-19 dashboards across 53 countries.
• Evaluated analytical depth, visual types, and interactivity features.</a:t>
                      </a:r>
                      <a:endParaRPr lang="en-US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Effective dashboards must balance clinical metrics with operational data (testing, vaccination).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Dynamic user filtering &amp; time-series comparisons substantially improve data comprehension.</a:t>
                      </a:r>
                      <a:endParaRPr lang="en-IN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Identified widespread presence of static charts, poor mobile optimization, and lack of automated exploratory data analysis (EDA) pipelines.</a:t>
                      </a:r>
                      <a:endParaRPr lang="en-US" sz="20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15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Mathieu, E., Ritchie, H., et al. [3]
(Nature Human Behaviour, 2021)</a:t>
                      </a:r>
                      <a:endParaRPr lang="en-IN" sz="20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A global database of COVID-19 vaccinations (Our World in Data)</a:t>
                      </a:r>
                      <a:endParaRPr lang="en-US" sz="20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Standardized multi-source metadata schema.
• 7-day rolling average time-series smoothing.
• Per-capita metric normalization across 218 territories.</a:t>
                      </a:r>
                      <a:endParaRPr lang="en-US" sz="20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Harmonizing vaccination metrics with infection &amp; mortality curves is essential to measure public health intervention efficacy.
• Normalization is crucial for fair regional comparison.</a:t>
                      </a:r>
                      <a:endParaRPr lang="en-US" sz="20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rgbClr val="1E293B"/>
                          </a:solidFill>
                          <a:latin typeface="Times New Roman" panose="02020603050405020304"/>
                        </a:rPr>
                        <a:t>• Discrepancies in jurisdictional reporting standards.
• Absence of integrated, user-driven interactive exploratory dashboard for sub-regional drill-down.</a:t>
                      </a:r>
                      <a:endParaRPr lang="en-US" sz="20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307E3-62C0-EFBB-0BB5-9F3E79DC6D82}"/>
              </a:ext>
            </a:extLst>
          </p:cNvPr>
          <p:cNvSpPr txBox="1"/>
          <p:nvPr/>
        </p:nvSpPr>
        <p:spPr>
          <a:xfrm>
            <a:off x="541538" y="1246410"/>
            <a:ext cx="8600242" cy="5334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/>
              </a:rPr>
              <a:t>Gap 1: Disconnected Indicator Analysis &amp; Siloed Platforms</a:t>
            </a:r>
          </a:p>
          <a:p>
            <a:pPr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  <a:latin typeface="Times New Roman" panose="02020603050405020304"/>
              </a:rPr>
              <a:t>•  Existing Scenario: Most public portals report infection statistics, testing numbers, and vaccination rollouts in disjointed sections.</a:t>
            </a:r>
          </a:p>
          <a:p>
            <a:pPr>
              <a:spcBef>
                <a:spcPts val="400"/>
              </a:spcBef>
            </a:pPr>
            <a:r>
              <a:rPr lang="en-US" b="0" dirty="0">
                <a:solidFill>
                  <a:srgbClr val="1E293B"/>
                </a:solidFill>
                <a:latin typeface="Times New Roman" panose="02020603050405020304"/>
              </a:rPr>
              <a:t>•  Identified Gap: Lack of unified cross-indicator analytics—specifically examining how testing volume and vaccination coverage directly relate to infection curves and case fatality rates in a single interface</a:t>
            </a:r>
          </a:p>
          <a:p>
            <a:r>
              <a:rPr lang="en-IN" b="1" dirty="0">
                <a:solidFill>
                  <a:srgbClr val="1F4E79"/>
                </a:solidFill>
                <a:latin typeface="Times New Roman" panose="02020603050405020304"/>
              </a:rPr>
              <a:t>Gap 2: Unprocessed Noise &amp; Reporting Anomalies</a:t>
            </a:r>
          </a:p>
          <a:p>
            <a:pPr>
              <a:spcBef>
                <a:spcPts val="400"/>
              </a:spcBef>
            </a:pPr>
            <a:r>
              <a:rPr lang="en-IN" dirty="0">
                <a:solidFill>
                  <a:srgbClr val="475569"/>
                </a:solidFill>
                <a:latin typeface="Times New Roman" panose="02020603050405020304"/>
              </a:rPr>
              <a:t>•  Existing Scenario: Public health datasets frequently experience batch backlog updates, negative corrections, and weekend reporting lags.</a:t>
            </a:r>
          </a:p>
          <a:p>
            <a:pPr>
              <a:spcBef>
                <a:spcPts val="4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 Identified Gap: Raw data visualization without automated preprocessing leads to misleading artificial spikes, confusing non-expert users and distorting actual epidemiological trends.</a:t>
            </a:r>
          </a:p>
          <a:p>
            <a:r>
              <a:rPr lang="en-US" b="1" dirty="0">
                <a:solidFill>
                  <a:srgbClr val="1F4E79"/>
                </a:solidFill>
                <a:latin typeface="Times New Roman" panose="02020603050405020304"/>
              </a:rPr>
              <a:t>Gap 3: Rigid Interfaces &amp; Limited Interactivity</a:t>
            </a:r>
          </a:p>
          <a:p>
            <a:pPr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  <a:latin typeface="Times New Roman" panose="02020603050405020304"/>
              </a:rPr>
              <a:t>•  Existing Scenario: Many existing systems offer pre-rendered, static infographics or fixed, non-customizable date windows.</a:t>
            </a:r>
          </a:p>
          <a:p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Identified Gap: Inability for users to dynamically apply custom date sliders, isolate specific pandemic waves, or conduct side-by-side comparative analyses across custom-selected regions.</a:t>
            </a:r>
            <a:r>
              <a:rPr lang="en-US" b="1" dirty="0">
                <a:solidFill>
                  <a:srgbClr val="1F4E79"/>
                </a:solidFill>
                <a:latin typeface="Times New Roman" panose="02020603050405020304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788EBB-6592-65BC-663A-53645C12CE47}"/>
              </a:ext>
            </a:extLst>
          </p:cNvPr>
          <p:cNvSpPr txBox="1"/>
          <p:nvPr/>
        </p:nvSpPr>
        <p:spPr>
          <a:xfrm>
            <a:off x="843378" y="1543868"/>
            <a:ext cx="8262891" cy="5039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4E79"/>
                </a:solidFill>
                <a:latin typeface="Times New Roman" panose="02020603050405020304"/>
              </a:rPr>
              <a:t>1. End-to-End Data Science Pipeline Integration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Seamlessly couples automated data ingestion and cleaning with real-time exploratory data visualization.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Automates missing value handling, schema alignment, and 7-day rolling window smoothing to eliminate reporting artifacts.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Bridges the gap between raw data science scripts and interactive end-user web applications.</a:t>
            </a:r>
          </a:p>
          <a:p>
            <a:pPr>
              <a:spcBef>
                <a:spcPts val="300"/>
              </a:spcBef>
            </a:pPr>
            <a:endParaRPr lang="en-US" dirty="0">
              <a:solidFill>
                <a:srgbClr val="1E293B"/>
              </a:solidFill>
              <a:latin typeface="Times New Roman" panose="02020603050405020304"/>
            </a:endParaRPr>
          </a:p>
          <a:p>
            <a:r>
              <a:rPr lang="en-US" b="1" dirty="0">
                <a:solidFill>
                  <a:srgbClr val="1F4E79"/>
                </a:solidFill>
                <a:latin typeface="Times New Roman" panose="02020603050405020304"/>
              </a:rPr>
              <a:t>2. Synchronized Multi-Indicator Analytical Engine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Enables simultaneous side-by-side exploration of vaccination milestones, testing rates, infection surges, and mortality curves.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Dynamic computation of crucial health ratios (CFR, Recovery Rate, Positivity Rate, Per-Capita comparisons).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E293B"/>
                </a:solidFill>
                <a:latin typeface="Times New Roman" panose="02020603050405020304"/>
              </a:rPr>
              <a:t>•  Provides a holistic epidemiological perspective rather than isolated single-attribute graphs.</a:t>
            </a:r>
          </a:p>
          <a:p>
            <a:pPr>
              <a:spcBef>
                <a:spcPts val="300"/>
              </a:spcBef>
            </a:pPr>
            <a:endParaRPr lang="en-US" dirty="0">
              <a:solidFill>
                <a:srgbClr val="1E293B"/>
              </a:solidFill>
              <a:latin typeface="Times New Roman" panose="02020603050405020304"/>
            </a:endParaRPr>
          </a:p>
          <a:p>
            <a:pPr>
              <a:spcBef>
                <a:spcPts val="300"/>
              </a:spcBef>
            </a:pPr>
            <a:endParaRPr lang="en-US" sz="1100" dirty="0">
              <a:solidFill>
                <a:srgbClr val="1E293B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A1A9-4111-B374-1750-D6F320EF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Innovation, Creativity, and Novelty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05C6D-3A68-75A7-307F-BF9C559D3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>
                <a:solidFill>
                  <a:srgbClr val="1F4E79"/>
                </a:solidFill>
                <a:latin typeface="Times New Roman" panose="02020603050405020304"/>
              </a:rPr>
              <a:t>3. Dual-Level Spatiotemporal Filtering Architecture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Interactive multi-tier geographic filtering: Global, Continental, National, and Sub-Regional views.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Custom temporal scoping: Interactive date range sliders and epidemic wave segmentation presets.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Empowers users to contrast trajectories of different regions during identical pandemic phases.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1F4E79"/>
                </a:solidFill>
                <a:latin typeface="Times New Roman" panose="02020603050405020304"/>
              </a:rPr>
              <a:t>4. Explainable Visual Storytelling &amp; Ethical Scoping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Rich interactive components: Choropleth heatmaps, dual-axis time-series, comparative bars, and KPI cards.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Designed for diverse audiences: intuitive for general citizens while providing statistical depth for analysts.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E293B"/>
                </a:solidFill>
                <a:latin typeface="Times New Roman" panose="02020603050405020304"/>
              </a:rPr>
              <a:t>•  Built-in contextual summaries and clear disclaimers clarifying analytical boundaries.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D89D0-DDF9-D774-6FD2-B059B635D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CFF4B4-C0A7-ED86-1383-9A5DFA2A4BC7}"/>
              </a:ext>
            </a:extLst>
          </p:cNvPr>
          <p:cNvSpPr txBox="1"/>
          <p:nvPr/>
        </p:nvSpPr>
        <p:spPr>
          <a:xfrm>
            <a:off x="878889" y="2308195"/>
            <a:ext cx="8262891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1F4E79"/>
                </a:solidFill>
                <a:latin typeface="Times New Roman" panose="02020603050405020304"/>
              </a:rPr>
              <a:t>Technical Feasibility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Tech Stack: Python, Pandas, NumPy for data processing.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Visualization: </a:t>
            </a:r>
            <a:r>
              <a:rPr lang="en-IN" dirty="0" err="1">
                <a:solidFill>
                  <a:srgbClr val="1E293B"/>
                </a:solidFill>
                <a:latin typeface="Times New Roman" panose="02020603050405020304"/>
              </a:rPr>
              <a:t>Plotly</a:t>
            </a: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, Seaborn, Matplotlib, </a:t>
            </a:r>
            <a:r>
              <a:rPr lang="en-IN" dirty="0" err="1">
                <a:solidFill>
                  <a:srgbClr val="1E293B"/>
                </a:solidFill>
                <a:latin typeface="Times New Roman" panose="02020603050405020304"/>
              </a:rPr>
              <a:t>Streamlit</a:t>
            </a: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/Dash.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Performance: Mature, optimized libraries handle large datasets efficiently on consumer hardware.</a:t>
            </a:r>
          </a:p>
          <a:p>
            <a:r>
              <a:rPr lang="en-IN" b="1" dirty="0">
                <a:solidFill>
                  <a:srgbClr val="1F4E79"/>
                </a:solidFill>
                <a:latin typeface="Times New Roman" panose="02020603050405020304"/>
              </a:rPr>
              <a:t>Operational Feasibility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Data Sources: Open public health repositories (OWID, JHU CSSE, WHO, COVID19-India).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Accessibility: Web-based GUI accessible via any modern browser with zero client-side setup.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User-Centric: Intuitive controls suitable for both technical analysts and general public.</a:t>
            </a:r>
          </a:p>
          <a:p>
            <a:r>
              <a:rPr lang="en-IN" b="1" dirty="0">
                <a:solidFill>
                  <a:srgbClr val="1F4E79"/>
                </a:solidFill>
                <a:latin typeface="Times New Roman" panose="02020603050405020304"/>
              </a:rPr>
              <a:t>Economic Feasibility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Open-Source: 100% free and open-source software stack with zero licensing fees.</a:t>
            </a:r>
          </a:p>
          <a:p>
            <a:pPr>
              <a:spcBef>
                <a:spcPts val="200"/>
              </a:spcBef>
            </a:pPr>
            <a:r>
              <a:rPr lang="en-IN" dirty="0">
                <a:solidFill>
                  <a:srgbClr val="1E293B"/>
                </a:solidFill>
                <a:latin typeface="Times New Roman" panose="02020603050405020304"/>
              </a:rPr>
              <a:t>• Zero Infrastructure Cost: Executable locally on student PCs and deployable on free cloud tiers.</a:t>
            </a:r>
          </a:p>
          <a:p>
            <a:pPr>
              <a:spcBef>
                <a:spcPts val="200"/>
              </a:spcBef>
            </a:pPr>
            <a:endParaRPr lang="en-IN" sz="1000" dirty="0">
              <a:solidFill>
                <a:srgbClr val="1E293B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0F89-1133-7DE3-6127-FDF9E8E2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Feasibility and Project Plan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22C064-99FC-C514-6A9C-EEBB6379B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32762"/>
            <a:ext cx="10515600" cy="2937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77C4B-B31F-C67D-589B-A2853A736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94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1337</Words>
  <Application>Microsoft Office PowerPoint</Application>
  <PresentationFormat>Widescreen</PresentationFormat>
  <Paragraphs>142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Innovation, Creativity, and Novelty</vt:lpstr>
      <vt:lpstr>PowerPoint Presentation</vt:lpstr>
      <vt:lpstr>Feasibility and Project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Vamsidhar K</cp:lastModifiedBy>
  <cp:revision>40</cp:revision>
  <dcterms:created xsi:type="dcterms:W3CDTF">2026-08-08T06:33:00Z</dcterms:created>
  <dcterms:modified xsi:type="dcterms:W3CDTF">2026-09-18T04:18:43Z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46A869C55BA04DEE80C6FBCDA12879A7_12</vt:lpwstr>
  </property>
  <property fmtid="{D5CDD505-2E9C-101B-9397-08002B2CF9AE}" pid="3" name="KSOProductBuildVer">
    <vt:lpwstr>1033-12.1.0.28485</vt:lpwstr>
  </property>
</Properties>
</file>